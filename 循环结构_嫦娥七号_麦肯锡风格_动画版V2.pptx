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同学们，今天你们不是听一节抽象的流程图课，而是加入青少年飞控顾问团。我们要设计一套月球南极第一圈自主巡视规则。先回忆已经会用的两种结构，再看月球车为什么需要第三种结构。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甲：这些指令按箭头依次执行，我们叫它顺序结构。再看乙：前方有障碍时转向，没有障碍就直行。一次只会选择一条分支，而不是两条都做。上节课的这两种结构能安排先后，也能做选择；如果类似指令需要反复做很多次，怎么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呈现课前核实过的嫦娥七号资料卡：任务涉及月球南极和水冰探测。请全班默数约三秒，感受地月信号往返的时间。地面仍能遥控，但遇到近处坑洼时，巡视器不能把每一个即时判断都留给地面。请学生说说：如果它面前就是危险，先等一条地球发来的新指令，会有什么问题？接下来发布飞控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的任务不是把每一步都遥控完，而是给巡视器一套能重复执行、也能停下来的规则。请学生先提出两个问题：每一轮重复什么？什么情况继续，什么情况结束？同桌说一说，再进入第一关的直路通信。四关地图是教学模拟，不代表真实嫦娥七号的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打开网页第一关。中继塔位于7格直路的终点，从基地到塔要走6格。问学生：每到一个新格要发送位置脉冲，一轮重复哪两步？先让两人合作拖入“前进1格”和“发送位置脉冲”，再选择到达目标的判断。运行前预测轮数，运行时观察第一轮、最后一轮。若有人说12轮，请说明一轮可以包含两步，完整执行这两步才算一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暂停网页，把刚才的动作译成流程图。请一位学生指着动作框说出循环体，另一位学生指出“到达中继塔？”这个循环判断条件，再请第三位学生沿绿色返回箭头说出下一轮怎样发生。归纳：循环结构按一定条件反复执行一组操作。问：这个图第一次经过的是菱形还是动作框？这样为后面的两种检查时机作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打开网页第二关。提醒学生起点在右下角，车头朝东，右侧已经是地图外。投屏先放错序“前进1格→前方危险则左转”，请学生预测第一步。运行后停在越界反馈。追问：事后再检查还能救回来吗？为什么？请一人到屏幕指出错误发生在前进这一动作，不要只说“答案错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生把顺序改成“前方危险则左转→前进1格”，运行后沿绿色通道走5格、左转两次到营地。接着圈出图上的两个菱形：前方危险判断只决定这一轮是否左转；到达营地判断才决定整个循环是否结束。这里改变的是循环体内部两块积木的先后。第三关开始，我们要比较的是循环判断条件放在整个循环体之前还是之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打开网页第三关，先读地图：黄色基地不编号，绿色的是1到10号样点。水冰藏在哪一站，必须到那一站扫描后才有结果。固定循环体为“沿路线去下一站→扫描当前样点”。问学生：在基地还没有扫描时，“本轮发现水冰？”是“否”还是“未知”？若有人说“基地没水冰所以选否”，请追问：任务要扫描的是哪一个样点？在基地扫描能得出1号样点的结果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请学生先预测两次运行各会怎样，再用同一套积木做对照。先判断时，系统提示尚无扫描数据；先执行一轮到1号样点扫描后才有结果。继续执行到8号样点发现水冰，即刻结束，不再驶往第9号。追问：两次改变了什么？引导学生说出只改变循环判断条件相对于循环体的位置。这里不能把“未知”当作扫描后的“无信号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出示第四关3×3绕坑路线，中间是陨石坑。课件和网页中的“回到出发点？”检测的是当前位置是否在出发点，并不记录是否已经出发。刚开始就在起点，所以先判断直接结束，执行0轮。将同一循环体改为先执行后判断，每轮沿方形外圈走一条边：前进两格、右转一次；四轮走8格、右转4次后回起点。再问：如果任务改为已经在起点就原地待命，先判断反而合适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带学生用箭头而不是用菱形的上下位置读流程。左边第一步先判断：若开始时条件已经成立，动作一次也不执行。右边第一步先执行循环体：至少做完一轮才检查。请学生举出本节课的两个证据：第四关原地0轮，第三关先扫描才有本轮数据。最后问：哪一种永远更好？答案是依任务和起始信息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发放练习与评价记录单，留约三分钟个人独立答题，不看同伴答案。第1题机械臂反复取样、放入盒，盒中已有3个样本为停止判断；第2题在充电站起点先判断，条件已经成立，循环体执行0轮；第3题没有照片可判断，先拍后判断，如果第一张清晰，共拍1张。先不要揭示答案。教师此时观察学生是否能独立指出“动作”和“条件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请学生交换解释，不只报答案。第1题两步都属于循环体；第2题已经在充电站，先判断会0轮；第3题没有照片，必须先拍一张才可检查清晰度。知识练习共6分；过程表现4分，依次看先预测再运行、用结果解释和修正、合作轮换并能说明方案、如实记录失败与未知结果。请学生做简短自评，教师用巡视记录和个人答题核定，再分别记录“结构不清”和“时机不清”的学生，课后补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堂评价后转向生活。投屏扫地机器人案例：它撞到桌脚后是继续直撞，还是重新扫描、规划再移动？请一位学生指出反复做的动作：扫描环境、规划路线、移动；另一位给出停止条件，例如“清扫完成？”这就是教材第35页“感知—决策—行动”的生活版本。不同轮次获得的新信息会改变下一轮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再看语音识别训练：系统尝试识别一段语音，把结果与正确答案比较，依据差异作调整，再处理更多例子。问学生：一遍遍重复同样的错误会自动变聪明吗？引导他们说出数据、反馈和调整的作用。太阳东升西落、四季变化也有重复，但不是程序循环。最后让学生带走三个观察问题：智能设备反复做什么？依据什么停止？得到新信息后怎样改变行动？这作为下节课的交流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unar_phot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656" y="475488"/>
            <a:ext cx="548640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AE4EA"/>
                </a:solidFill>
                <a:latin typeface="PingFang SC"/>
                <a:ea typeface="PingFang SC"/>
              </a:rPr>
              <a:t>小学信息科技 · 五年级上册</a:t>
            </a:r>
            <a:endParaRPr sz="1500" b="1">
              <a:solidFill>
                <a:srgbClr val="DAE4EA"/>
              </a:solidFill>
              <a:latin typeface="PingFang SC"/>
              <a:ea typeface="PingFang S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76656" y="1005840"/>
            <a:ext cx="2523744" cy="0"/>
          </a:xfrm>
          <a:prstGeom prst="line">
            <a:avLst/>
          </a:prstGeom>
          <a:ln w="25400">
            <a:solidFill>
              <a:srgbClr val="92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73352"/>
            <a:ext cx="5257800" cy="10972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ingFang SC"/>
                <a:ea typeface="PingFang SC"/>
              </a:rPr>
              <a:t>循环结构</a:t>
            </a:r>
            <a:endParaRPr sz="60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2834640"/>
            <a:ext cx="5486400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ingFang SC"/>
                <a:ea typeface="PingFang SC"/>
              </a:rPr>
              <a:t>嫦娥七号 · 月球南极第一圈自主巡视</a:t>
            </a:r>
            <a:endParaRPr sz="26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5193792"/>
            <a:ext cx="502920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ADDE3"/>
                </a:solidFill>
                <a:latin typeface="PingFang SC"/>
                <a:ea typeface="PingFang SC"/>
              </a:rPr>
              <a:t>青少年飞控顾问团</a:t>
            </a:r>
            <a:endParaRPr sz="1800" b="0">
              <a:solidFill>
                <a:srgbClr val="CADDE3"/>
              </a:solidFill>
              <a:latin typeface="PingFang SC"/>
              <a:ea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60152" y="6355080"/>
            <a:ext cx="1143000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D4D9"/>
                </a:solidFill>
                <a:latin typeface="PingFang SC"/>
                <a:ea typeface="PingFang SC"/>
              </a:rPr>
              <a:t>月面示意图</a:t>
            </a:r>
            <a:endParaRPr sz="1000" b="0">
              <a:solidFill>
                <a:srgbClr val="CBD4D9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01 旧知回顾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顺序决定先后，分支决定路线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请沿箭头读图：乙图一次会执行几条分支？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4805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4C72"/>
                </a:solidFill>
                <a:latin typeface="PingFang SC"/>
                <a:ea typeface="PingFang SC"/>
              </a:rPr>
              <a:t>甲 · 顺序结构</a:t>
            </a:r>
            <a:endParaRPr sz="2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2350008"/>
            <a:ext cx="1024128" cy="60350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86584"/>
            <a:ext cx="877824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开始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651760"/>
            <a:ext cx="640080" cy="0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07208" y="2350008"/>
            <a:ext cx="1600200" cy="60350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386584"/>
            <a:ext cx="1453896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前进1格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425696" y="2651760"/>
            <a:ext cx="566928" cy="0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0" y="2350008"/>
            <a:ext cx="1005840" cy="60350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2386584"/>
            <a:ext cx="859536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结束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1664208"/>
            <a:ext cx="0" cy="4215384"/>
          </a:xfrm>
          <a:prstGeom prst="line">
            <a:avLst/>
          </a:prstGeom>
          <a:ln w="1905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29400" y="1600200"/>
            <a:ext cx="44805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4C72"/>
                </a:solidFill>
                <a:latin typeface="PingFang SC"/>
                <a:ea typeface="PingFang SC"/>
              </a:rPr>
              <a:t>乙 · 分支结构</a:t>
            </a:r>
            <a:endParaRPr sz="2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18" name="Diamond 17"/>
          <p:cNvSpPr/>
          <p:nvPr/>
        </p:nvSpPr>
        <p:spPr>
          <a:xfrm>
            <a:off x="6858000" y="2359152"/>
            <a:ext cx="2148840" cy="1097280"/>
          </a:xfrm>
          <a:prstGeom prst="diamond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1736" y="2660904"/>
            <a:ext cx="1801368" cy="4297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538"/>
                </a:solidFill>
                <a:latin typeface="PingFang SC"/>
                <a:ea typeface="PingFang SC"/>
              </a:rPr>
              <a:t>前方有障碍？</a:t>
            </a:r>
            <a:endParaRPr sz="17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7150608" y="3456432"/>
            <a:ext cx="210312" cy="704088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03720" y="3675887"/>
            <a:ext cx="41148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538"/>
                </a:solidFill>
                <a:latin typeface="PingFang SC"/>
                <a:ea typeface="PingFang SC"/>
              </a:rPr>
              <a:t>是</a:t>
            </a:r>
            <a:endParaRPr sz="17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522208" y="3456432"/>
            <a:ext cx="1124712" cy="704088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98864" y="3675887"/>
            <a:ext cx="41148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538"/>
                </a:solidFill>
                <a:latin typeface="PingFang SC"/>
                <a:ea typeface="PingFang SC"/>
              </a:rPr>
              <a:t>否</a:t>
            </a:r>
            <a:endParaRPr sz="17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83096" y="4251960"/>
            <a:ext cx="1371600" cy="640080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4288536"/>
            <a:ext cx="122529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转向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537192" y="4251960"/>
            <a:ext cx="1371600" cy="640080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0344" y="4288536"/>
            <a:ext cx="122529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直行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7854696" y="4572000"/>
            <a:ext cx="813816" cy="713232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668512" y="4572000"/>
            <a:ext cx="868680" cy="713232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65592" y="5422392"/>
            <a:ext cx="1014984" cy="530352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5458968"/>
            <a:ext cx="868680" cy="45719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538"/>
                </a:solidFill>
                <a:latin typeface="PingFang SC"/>
                <a:ea typeface="PingFang SC"/>
              </a:rPr>
              <a:t>结束</a:t>
            </a:r>
            <a:endParaRPr sz="17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02 情境导入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远距离通信，更需要本地判断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09928"/>
            <a:ext cx="4846320" cy="1554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244C72"/>
                </a:solidFill>
                <a:latin typeface="PingFang SC"/>
                <a:ea typeface="PingFang SC"/>
              </a:rPr>
              <a:t>≈3秒</a:t>
            </a:r>
            <a:endParaRPr sz="74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3273552"/>
            <a:ext cx="4297680" cy="4937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地月信号一来一回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58952" y="4059936"/>
            <a:ext cx="4562856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4315968"/>
            <a:ext cx="4846320" cy="11155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目标：月球南极寻找水冰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挑战：近处坑洼和永久阴影区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pic>
        <p:nvPicPr>
          <p:cNvPr id="10" name="Picture 9" descr="lunar_phot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700784"/>
            <a:ext cx="5550408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5016" y="5806440"/>
            <a:ext cx="914400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月面示意图</a:t>
            </a:r>
            <a:endParaRPr sz="1000" b="0">
              <a:solidFill>
                <a:srgbClr val="FFFFFF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02 情境导入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飞控委托：让巡视器自己完成第一圈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2104" y="1847088"/>
            <a:ext cx="4983480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42538"/>
                </a:solidFill>
                <a:latin typeface="PingFang SC"/>
                <a:ea typeface="PingFang SC"/>
              </a:rPr>
              <a:t>反复做什么？</a:t>
            </a:r>
            <a:endParaRPr sz="37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" y="3429000"/>
            <a:ext cx="9235440" cy="8138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244C72"/>
                </a:solidFill>
                <a:latin typeface="PingFang SC"/>
                <a:ea typeface="PingFang SC"/>
              </a:rPr>
              <a:t>依据什么继续或停止？</a:t>
            </a:r>
            <a:endParaRPr sz="37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41248" y="3026664"/>
            <a:ext cx="9902952" cy="0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" y="4663440"/>
            <a:ext cx="9902952" cy="0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625328" y="2002536"/>
            <a:ext cx="475488" cy="475488"/>
          </a:xfrm>
          <a:prstGeom prst="ellipse">
            <a:avLst/>
          </a:prstGeom>
          <a:solidFill>
            <a:srgbClr val="07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43616" y="2020824"/>
            <a:ext cx="438912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 sz="15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25328" y="3621024"/>
            <a:ext cx="475488" cy="475488"/>
          </a:xfrm>
          <a:prstGeom prst="ellipse">
            <a:avLst/>
          </a:prstGeom>
          <a:solidFill>
            <a:srgbClr val="244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43616" y="3639312"/>
            <a:ext cx="438912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 sz="15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111496"/>
            <a:ext cx="9509760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587"/>
                </a:solidFill>
                <a:latin typeface="PingFang SC"/>
                <a:ea typeface="PingFang SC"/>
              </a:rPr>
              <a:t>四次模拟测试，逐步设计巡视规则</a:t>
            </a:r>
            <a:endParaRPr sz="2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7" grpId="0"/>
      <p:bldP spid="9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03 新知初识 · 第1关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哪两步会反复出现？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运行前先预测：到中继塔是执行6轮，还是12轮？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Oval 6"/>
          <p:cNvSpPr/>
          <p:nvPr/>
        </p:nvSpPr>
        <p:spPr>
          <a:xfrm>
            <a:off x="694944" y="2075688"/>
            <a:ext cx="841248" cy="841248"/>
          </a:xfrm>
          <a:prstGeom prst="ellipse">
            <a:avLst/>
          </a:prstGeom>
          <a:solidFill>
            <a:srgbClr val="244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基地</a:t>
            </a:r>
            <a:endParaRPr sz="13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536192" y="2496312"/>
            <a:ext cx="758952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95144" y="2075688"/>
            <a:ext cx="841248" cy="841248"/>
          </a:xfrm>
          <a:prstGeom prst="ellipse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1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136391" y="2496312"/>
            <a:ext cx="758953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95344" y="2075688"/>
            <a:ext cx="841248" cy="841248"/>
          </a:xfrm>
          <a:prstGeom prst="ellipse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1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2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2496312"/>
            <a:ext cx="758952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95544" y="2075688"/>
            <a:ext cx="841248" cy="841248"/>
          </a:xfrm>
          <a:prstGeom prst="ellipse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1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3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336792" y="2496312"/>
            <a:ext cx="758952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095744" y="2075688"/>
            <a:ext cx="841248" cy="841248"/>
          </a:xfrm>
          <a:prstGeom prst="ellipse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4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936992" y="2496312"/>
            <a:ext cx="758952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95944" y="2075688"/>
            <a:ext cx="841248" cy="841248"/>
          </a:xfrm>
          <a:prstGeom prst="ellipse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2538"/>
                </a:solidFill>
                <a:latin typeface="PingFang SC"/>
                <a:ea typeface="PingFang SC"/>
              </a:rPr>
              <a:t>5</a:t>
            </a:r>
            <a:endParaRPr sz="19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9537192" y="2496312"/>
            <a:ext cx="758952" cy="0"/>
          </a:xfrm>
          <a:prstGeom prst="line">
            <a:avLst/>
          </a:prstGeom>
          <a:ln w="3175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96144" y="2075688"/>
            <a:ext cx="841248" cy="841248"/>
          </a:xfrm>
          <a:prstGeom prst="ellipse">
            <a:avLst/>
          </a:prstGeom>
          <a:solidFill>
            <a:srgbClr val="BF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4432" y="2093976"/>
            <a:ext cx="804672" cy="8046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中继塔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2104" y="3941063"/>
            <a:ext cx="1737360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47587"/>
                </a:solidFill>
                <a:latin typeface="PingFang SC"/>
                <a:ea typeface="PingFang SC"/>
              </a:rPr>
              <a:t>每一轮</a:t>
            </a:r>
            <a:endParaRPr sz="2100" b="1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468880" y="3813048"/>
            <a:ext cx="2761488" cy="758952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3849624"/>
            <a:ext cx="2615184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538"/>
                </a:solidFill>
                <a:latin typeface="PingFang SC"/>
                <a:ea typeface="PingFang SC"/>
              </a:rPr>
              <a:t>前进1格</a:t>
            </a:r>
            <a:endParaRPr sz="26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239512" y="4197096"/>
            <a:ext cx="731520" cy="0"/>
          </a:xfrm>
          <a:prstGeom prst="line">
            <a:avLst/>
          </a:prstGeom>
          <a:ln w="29209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016752" y="3813048"/>
            <a:ext cx="3246120" cy="758952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3849624"/>
            <a:ext cx="3099815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538"/>
                </a:solidFill>
                <a:latin typeface="PingFang SC"/>
                <a:ea typeface="PingFang SC"/>
              </a:rPr>
              <a:t>发送位置脉冲</a:t>
            </a:r>
            <a:endParaRPr sz="26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710928" y="3822191"/>
            <a:ext cx="1709928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07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3950208"/>
            <a:ext cx="1463040" cy="4937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8C82"/>
                </a:solidFill>
                <a:latin typeface="PingFang SC"/>
                <a:ea typeface="PingFang SC"/>
              </a:rPr>
              <a:t>到塔即停</a:t>
            </a:r>
            <a:endParaRPr sz="2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th 2"/>
          <p:cNvSpPr/>
          <p:nvPr/>
        </p:nvSpPr>
        <p:spPr>
          <a:xfrm>
            <a:off x="4069786" y="2026062"/>
            <a:ext cx="3884499" cy="19094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780" y="0"/>
                </a:moveTo>
                <a:lnTo>
                  <a:pt x="21600" y="10718"/>
                </a:lnTo>
                <a:lnTo>
                  <a:pt x="10780" y="21600"/>
                </a:lnTo>
                <a:lnTo>
                  <a:pt x="0" y="10718"/>
                </a:lnTo>
                <a:close/>
              </a:path>
            </a:pathLst>
          </a:custGeom>
          <a:solidFill>
            <a:srgbClr val="EAF2F9"/>
          </a:solidFill>
          <a:ln w="27940">
            <a:solidFill>
              <a:srgbClr val="244C72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3479459" y="5108882"/>
            <a:ext cx="5065154" cy="1093199"/>
          </a:xfrm>
          <a:prstGeom prst="rect">
            <a:avLst/>
          </a:prstGeom>
          <a:solidFill>
            <a:srgbClr val="EAF2F9"/>
          </a:solidFill>
          <a:ln w="26670">
            <a:solidFill>
              <a:srgbClr val="244C72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9914755" y="2521645"/>
            <a:ext cx="1938606" cy="932863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26670">
            <a:solidFill>
              <a:srgbClr val="244C72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6008392" y="1224383"/>
            <a:ext cx="0" cy="794391"/>
          </a:xfrm>
          <a:prstGeom prst="line">
            <a:avLst/>
          </a:prstGeom>
          <a:noFill/>
          <a:ln w="31750">
            <a:solidFill>
              <a:srgbClr val="20324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7954285" y="2980789"/>
            <a:ext cx="1945894" cy="0"/>
          </a:xfrm>
          <a:prstGeom prst="line">
            <a:avLst/>
          </a:prstGeom>
          <a:noFill/>
          <a:ln w="31750">
            <a:solidFill>
              <a:srgbClr val="20324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6008392" y="3942803"/>
            <a:ext cx="0" cy="1158791"/>
          </a:xfrm>
          <a:prstGeom prst="line">
            <a:avLst/>
          </a:prstGeom>
          <a:noFill/>
          <a:ln w="31750">
            <a:solidFill>
              <a:srgbClr val="20324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2262364" y="2958925"/>
            <a:ext cx="1807422" cy="269655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4545" y="21542"/>
                </a:moveTo>
                <a:lnTo>
                  <a:pt x="0" y="21542"/>
                </a:lnTo>
                <a:lnTo>
                  <a:pt x="0" y="58"/>
                </a:lnTo>
                <a:lnTo>
                  <a:pt x="21513" y="58"/>
                </a:lnTo>
              </a:path>
            </a:pathLst>
          </a:custGeom>
          <a:noFill/>
          <a:ln w="57150">
            <a:solidFill>
              <a:srgbClr val="078C8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 flipV="1">
            <a:off x="6759055" y="1763694"/>
            <a:ext cx="488295" cy="481007"/>
          </a:xfrm>
          <a:prstGeom prst="line">
            <a:avLst/>
          </a:prstGeom>
          <a:noFill/>
          <a:ln w="17780">
            <a:solidFill>
              <a:srgbClr val="244C72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V="1">
            <a:off x="8639357" y="5050578"/>
            <a:ext cx="772527" cy="313384"/>
          </a:xfrm>
          <a:prstGeom prst="line">
            <a:avLst/>
          </a:prstGeom>
          <a:noFill/>
          <a:ln w="17780">
            <a:solidFill>
              <a:srgbClr val="244C72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810509" y="4270763"/>
            <a:ext cx="371688" cy="291520"/>
          </a:xfrm>
          <a:prstGeom prst="line">
            <a:avLst/>
          </a:prstGeom>
          <a:noFill/>
          <a:ln w="17780">
            <a:solidFill>
              <a:srgbClr val="078C82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16470" y="145760"/>
            <a:ext cx="3935515" cy="10567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610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循环结构</a:t>
            </a:r>
            <a:endParaRPr lang="zh-CN" sz="6100"/>
          </a:p>
        </p:txBody>
      </p:sp>
      <p:sp>
        <p:nvSpPr>
          <p:cNvPr id="13" name="TextBox 13"/>
          <p:cNvSpPr txBox="1"/>
          <p:nvPr/>
        </p:nvSpPr>
        <p:spPr>
          <a:xfrm>
            <a:off x="338334" y="1282687"/>
            <a:ext cx="5028714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30" b="1">
                <a:solidFill>
                  <a:srgbClr val="6A7B8E"/>
                </a:solidFill>
                <a:latin typeface="PingFang SC"/>
                <a:ea typeface="PingFang SC"/>
                <a:cs typeface="PingFang SC"/>
              </a:rPr>
              <a:t>循环体 · 循环判断条件 · 返回箭头</a:t>
            </a:r>
            <a:endParaRPr lang="zh-CN" sz="2230"/>
          </a:p>
        </p:txBody>
      </p:sp>
      <p:sp>
        <p:nvSpPr>
          <p:cNvPr id="14" name="TextBox 14"/>
          <p:cNvSpPr txBox="1"/>
          <p:nvPr/>
        </p:nvSpPr>
        <p:spPr>
          <a:xfrm>
            <a:off x="7283790" y="1596070"/>
            <a:ext cx="2878757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60" b="1">
                <a:solidFill>
                  <a:srgbClr val="244C72"/>
                </a:solidFill>
                <a:latin typeface="PingFang SC"/>
                <a:ea typeface="PingFang SC"/>
                <a:cs typeface="PingFang SC"/>
              </a:rPr>
              <a:t>循环判断条件</a:t>
            </a:r>
            <a:endParaRPr lang="zh-CN" sz="2460"/>
          </a:p>
        </p:txBody>
      </p:sp>
      <p:sp>
        <p:nvSpPr>
          <p:cNvPr id="15" name="TextBox 15"/>
          <p:cNvSpPr txBox="1"/>
          <p:nvPr/>
        </p:nvSpPr>
        <p:spPr>
          <a:xfrm>
            <a:off x="4718417" y="2696557"/>
            <a:ext cx="2623677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296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到达中继塔？</a:t>
            </a:r>
            <a:endParaRPr lang="zh-CN" sz="2960"/>
          </a:p>
        </p:txBody>
      </p:sp>
      <p:sp>
        <p:nvSpPr>
          <p:cNvPr id="16" name="TextBox 16"/>
          <p:cNvSpPr txBox="1"/>
          <p:nvPr/>
        </p:nvSpPr>
        <p:spPr>
          <a:xfrm>
            <a:off x="8559189" y="2441477"/>
            <a:ext cx="539311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271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是</a:t>
            </a:r>
            <a:endParaRPr lang="zh-CN" sz="2710"/>
          </a:p>
        </p:txBody>
      </p:sp>
      <p:sp>
        <p:nvSpPr>
          <p:cNvPr id="17" name="TextBox 17"/>
          <p:cNvSpPr txBox="1"/>
          <p:nvPr/>
        </p:nvSpPr>
        <p:spPr>
          <a:xfrm>
            <a:off x="6146864" y="4212459"/>
            <a:ext cx="546599" cy="481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279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否</a:t>
            </a:r>
            <a:endParaRPr lang="zh-CN" sz="2790"/>
          </a:p>
        </p:txBody>
      </p:sp>
      <p:sp>
        <p:nvSpPr>
          <p:cNvPr id="18" name="TextBox 18"/>
          <p:cNvSpPr txBox="1"/>
          <p:nvPr/>
        </p:nvSpPr>
        <p:spPr>
          <a:xfrm>
            <a:off x="10337459" y="2696557"/>
            <a:ext cx="983879" cy="553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310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结束</a:t>
            </a:r>
            <a:endParaRPr lang="zh-CN" sz="3100"/>
          </a:p>
        </p:txBody>
      </p:sp>
      <p:sp>
        <p:nvSpPr>
          <p:cNvPr id="19" name="TextBox 19"/>
          <p:cNvSpPr txBox="1"/>
          <p:nvPr/>
        </p:nvSpPr>
        <p:spPr>
          <a:xfrm>
            <a:off x="3836570" y="5371250"/>
            <a:ext cx="4380083" cy="5393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2810" b="1">
                <a:solidFill>
                  <a:srgbClr val="132237"/>
                </a:solidFill>
                <a:latin typeface="PingFang SC"/>
                <a:ea typeface="PingFang SC"/>
                <a:cs typeface="PingFang SC"/>
              </a:rPr>
              <a:t>前进1格 → 发送位置脉冲</a:t>
            </a:r>
            <a:endParaRPr lang="zh-CN" sz="2810"/>
          </a:p>
        </p:txBody>
      </p:sp>
      <p:sp>
        <p:nvSpPr>
          <p:cNvPr id="20" name="TextBox 20"/>
          <p:cNvSpPr txBox="1"/>
          <p:nvPr/>
        </p:nvSpPr>
        <p:spPr>
          <a:xfrm>
            <a:off x="9433748" y="4912106"/>
            <a:ext cx="1967758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10" b="1">
                <a:solidFill>
                  <a:srgbClr val="244C72"/>
                </a:solidFill>
                <a:latin typeface="PingFang SC"/>
                <a:ea typeface="PingFang SC"/>
                <a:cs typeface="PingFang SC"/>
              </a:rPr>
              <a:t>循环体</a:t>
            </a:r>
            <a:endParaRPr lang="zh-CN" sz="2710"/>
          </a:p>
        </p:txBody>
      </p:sp>
      <p:sp>
        <p:nvSpPr>
          <p:cNvPr id="21" name="TextBox 21"/>
          <p:cNvSpPr txBox="1"/>
          <p:nvPr/>
        </p:nvSpPr>
        <p:spPr>
          <a:xfrm>
            <a:off x="411214" y="3942803"/>
            <a:ext cx="1712678" cy="4882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840" b="1">
                <a:solidFill>
                  <a:srgbClr val="078C82"/>
                </a:solidFill>
                <a:latin typeface="PingFang SC"/>
                <a:ea typeface="PingFang SC"/>
                <a:cs typeface="PingFang SC"/>
              </a:rPr>
              <a:t>返回箭头</a:t>
            </a:r>
            <a:endParaRPr lang="zh-CN" sz="284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15" grpId="0"/>
      <p:bldP spid="9" grpId="0"/>
      <p:bldP spid="6" grpId="0"/>
      <p:bldP spid="16" grpId="0"/>
      <p:bldP spid="4" grpId="0"/>
      <p:bldP spid="18" grpId="0"/>
      <p:bldP spid="7" grpId="0"/>
      <p:bldP spid="17" grpId="0"/>
      <p:bldP spid="3" grpId="0"/>
      <p:bldP spid="19" grpId="0"/>
      <p:bldP spid="10" grpId="0"/>
      <p:bldP spid="8" grpId="0"/>
      <p:bldP spid="11" grpId="0"/>
      <p:bldP spid="20" grpId="0"/>
      <p:bldP spid="14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第2关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先前进后检查：第一步就越界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请先预测错误发生在第几步，再运行验证。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2415" y="1920240"/>
            <a:ext cx="1010412" cy="1010412"/>
          </a:xfrm>
          <a:prstGeom prst="rect">
            <a:avLst/>
          </a:prstGeom>
          <a:solidFill>
            <a:srgbClr val="C8DFE8"/>
          </a:solidFill>
          <a:ln w="12700">
            <a:solidFill>
              <a:srgbClr val="3C8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75104"/>
            <a:ext cx="932688" cy="9052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营地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3120" y="1920240"/>
            <a:ext cx="1010412" cy="1010412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1920240"/>
            <a:ext cx="1010412" cy="1010412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7" y="1920240"/>
            <a:ext cx="1010412" cy="1010412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2415" y="2980944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017520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2980944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9696" y="3017520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63824" y="2980944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24527" y="2980944"/>
            <a:ext cx="1010412" cy="1010412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2415" y="4041648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78224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03120" y="4041648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4078224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163824" y="4041648"/>
            <a:ext cx="1010412" cy="1010412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078224"/>
            <a:ext cx="932688" cy="9235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24527" y="4041648"/>
            <a:ext cx="1010412" cy="1010412"/>
          </a:xfrm>
          <a:prstGeom prst="rect">
            <a:avLst/>
          </a:prstGeom>
          <a:solidFill>
            <a:srgbClr val="244C72"/>
          </a:solidFill>
          <a:ln w="1270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3" y="4096511"/>
            <a:ext cx="932688" cy="9052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起点</a:t>
            </a:r>
            <a:endParaRPr sz="13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276088" y="4553712"/>
            <a:ext cx="548640" cy="0"/>
          </a:xfrm>
          <a:prstGeom prst="line">
            <a:avLst/>
          </a:prstGeom>
          <a:ln w="50800">
            <a:solidFill>
              <a:srgbClr val="B94E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61304" y="4325112"/>
            <a:ext cx="84124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4E4B"/>
                </a:solidFill>
                <a:latin typeface="PingFang SC"/>
                <a:ea typeface="PingFang SC"/>
              </a:rPr>
              <a:t>地图外</a:t>
            </a:r>
            <a:endParaRPr sz="1800" b="1">
              <a:solidFill>
                <a:srgbClr val="B94E4B"/>
              </a:solidFill>
              <a:latin typeface="PingFang SC"/>
              <a:ea typeface="PingFang SC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766560" y="1719072"/>
            <a:ext cx="0" cy="4096512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59752" y="1947672"/>
            <a:ext cx="3602736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4E4B"/>
                </a:solidFill>
                <a:latin typeface="PingFang SC"/>
                <a:ea typeface="PingFang SC"/>
              </a:rPr>
              <a:t>错误方案</a:t>
            </a:r>
            <a:endParaRPr sz="1800" b="1">
              <a:solidFill>
                <a:srgbClr val="B94E4B"/>
              </a:solidFill>
              <a:latin typeface="PingFang SC"/>
              <a:ea typeface="PingFang S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78040" y="2532888"/>
            <a:ext cx="3319272" cy="758952"/>
          </a:xfrm>
          <a:prstGeom prst="rect">
            <a:avLst/>
          </a:prstGeom>
          <a:solidFill>
            <a:srgbClr val="FAEBE9"/>
          </a:solidFill>
          <a:ln w="20320">
            <a:solidFill>
              <a:srgbClr val="B94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1192" y="2569464"/>
            <a:ext cx="3172968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538"/>
                </a:solidFill>
                <a:latin typeface="PingFang SC"/>
                <a:ea typeface="PingFang SC"/>
              </a:rPr>
              <a:t>前进1格</a:t>
            </a:r>
            <a:endParaRPr sz="25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842248" y="3291840"/>
            <a:ext cx="0" cy="448056"/>
          </a:xfrm>
          <a:prstGeom prst="line">
            <a:avLst/>
          </a:prstGeom>
          <a:ln w="26670">
            <a:solidFill>
              <a:srgbClr val="B94E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178040" y="3813048"/>
            <a:ext cx="3319272" cy="758952"/>
          </a:xfrm>
          <a:prstGeom prst="rect">
            <a:avLst/>
          </a:prstGeom>
          <a:solidFill>
            <a:srgbClr val="FAEBE9"/>
          </a:solidFill>
          <a:ln w="20320">
            <a:solidFill>
              <a:srgbClr val="B94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3849624"/>
            <a:ext cx="3172968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前方危险则左转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78040" y="4965192"/>
            <a:ext cx="3593592" cy="6949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车头朝东，正对地图边界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27" grpId="0"/>
      <p:bldP spid="28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第2关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先看前方，再决定转弯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69848" y="1837943"/>
            <a:ext cx="955548" cy="955548"/>
          </a:xfrm>
          <a:prstGeom prst="rect">
            <a:avLst/>
          </a:prstGeom>
          <a:solidFill>
            <a:srgbClr val="C8DFE8"/>
          </a:solidFill>
          <a:ln w="12700">
            <a:solidFill>
              <a:srgbClr val="3C8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892807"/>
            <a:ext cx="877824" cy="8503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营地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75688" y="1837943"/>
            <a:ext cx="955548" cy="955548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81528" y="1837943"/>
            <a:ext cx="955548" cy="955548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7368" y="1837943"/>
            <a:ext cx="955548" cy="955548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84378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88036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75688" y="284378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288036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81528" y="284378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288036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87368" y="2843784"/>
            <a:ext cx="955548" cy="955548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384962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388620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75688" y="384962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2264" y="388620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81528" y="3849624"/>
            <a:ext cx="955548" cy="955548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8104" y="3886200"/>
            <a:ext cx="877824" cy="8686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87368" y="3849624"/>
            <a:ext cx="955548" cy="955548"/>
          </a:xfrm>
          <a:prstGeom prst="rect">
            <a:avLst/>
          </a:prstGeom>
          <a:solidFill>
            <a:srgbClr val="244C72"/>
          </a:solidFill>
          <a:ln w="1270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23944" y="3904487"/>
            <a:ext cx="877824" cy="8503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起点</a:t>
            </a:r>
            <a:endParaRPr sz="13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cxnSp>
        <p:nvCxnSpPr>
          <p:cNvPr id="26" name="Connector 25"/>
          <p:cNvCxnSpPr/>
          <p:nvPr/>
        </p:nvCxnSpPr>
        <p:spPr>
          <a:xfrm flipV="1">
            <a:off x="4562856" y="3319272"/>
            <a:ext cx="0" cy="1005840"/>
          </a:xfrm>
          <a:prstGeom prst="line">
            <a:avLst/>
          </a:prstGeom>
          <a:ln w="4572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62856" y="2313432"/>
            <a:ext cx="0" cy="1005840"/>
          </a:xfrm>
          <a:prstGeom prst="line">
            <a:avLst/>
          </a:prstGeom>
          <a:ln w="4572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557016" y="2313432"/>
            <a:ext cx="1005840" cy="0"/>
          </a:xfrm>
          <a:prstGeom prst="line">
            <a:avLst/>
          </a:prstGeom>
          <a:ln w="4572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551176" y="2313432"/>
            <a:ext cx="1005840" cy="0"/>
          </a:xfrm>
          <a:prstGeom prst="line">
            <a:avLst/>
          </a:prstGeom>
          <a:ln w="4572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545336" y="2313432"/>
            <a:ext cx="1005840" cy="0"/>
          </a:xfrm>
          <a:prstGeom prst="line">
            <a:avLst/>
          </a:prstGeom>
          <a:ln w="4572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" y="1755648"/>
            <a:ext cx="0" cy="4206240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6007608" y="1920240"/>
            <a:ext cx="2212848" cy="1234440"/>
          </a:xfrm>
          <a:prstGeom prst="diamond">
            <a:avLst/>
          </a:prstGeom>
          <a:solidFill>
            <a:srgbClr val="EAF2F9"/>
          </a:solidFill>
          <a:ln w="2286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331720"/>
            <a:ext cx="1591056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前方危险？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85632" y="2157984"/>
            <a:ext cx="2788920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4C72"/>
                </a:solidFill>
                <a:latin typeface="PingFang SC"/>
                <a:ea typeface="PingFang SC"/>
              </a:rPr>
              <a:t>控制本轮：要不要左转</a:t>
            </a:r>
            <a:endParaRPr sz="2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35" name="Diamond 34"/>
          <p:cNvSpPr/>
          <p:nvPr/>
        </p:nvSpPr>
        <p:spPr>
          <a:xfrm>
            <a:off x="6007608" y="3913632"/>
            <a:ext cx="2212848" cy="1234440"/>
          </a:xfrm>
          <a:prstGeom prst="diamond">
            <a:avLst/>
          </a:prstGeom>
          <a:solidFill>
            <a:srgbClr val="DCEFEA"/>
          </a:solidFill>
          <a:ln w="22860">
            <a:solidFill>
              <a:srgbClr val="07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325112"/>
            <a:ext cx="1591056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到达营地？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85632" y="4142232"/>
            <a:ext cx="2788920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控制整个循环：停不停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704" y="5294376"/>
            <a:ext cx="4507992" cy="42062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8C82"/>
                </a:solidFill>
                <a:latin typeface="PingFang SC"/>
                <a:ea typeface="PingFang SC"/>
              </a:rPr>
              <a:t>5格 · 2次左转</a:t>
            </a:r>
            <a:endParaRPr sz="20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第3关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尚未扫描，结果是“未知”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黄色基地不是样点；先到绿色样点，再扫描当前站。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1719072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755648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1952" y="1719072"/>
            <a:ext cx="845819" cy="845819"/>
          </a:xfrm>
          <a:prstGeom prst="rect">
            <a:avLst/>
          </a:prstGeom>
          <a:solidFill>
            <a:srgbClr val="F7F9FA"/>
          </a:solidFill>
          <a:ln w="12700"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98064" y="1719072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55648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94176" y="1719072"/>
            <a:ext cx="845819" cy="845819"/>
          </a:xfrm>
          <a:prstGeom prst="rect">
            <a:avLst/>
          </a:prstGeom>
          <a:solidFill>
            <a:srgbClr val="F7F9FA"/>
          </a:solidFill>
          <a:ln w="12700"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0288" y="1719072"/>
            <a:ext cx="845819" cy="845819"/>
          </a:xfrm>
          <a:prstGeom prst="rect">
            <a:avLst/>
          </a:prstGeom>
          <a:solidFill>
            <a:srgbClr val="F7F9FA"/>
          </a:solidFill>
          <a:ln w="12700"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719072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1755648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05840" y="2615184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670048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10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1952" y="2615184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2670048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9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98064" y="2615184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670048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8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94176" y="2615184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2670048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7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90288" y="2615184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2670048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6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0" y="2615184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2651760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05840" y="3511296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3547872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01952" y="3511296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38528" y="3547872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98064" y="3511296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547872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94176" y="3511296"/>
            <a:ext cx="845819" cy="845819"/>
          </a:xfrm>
          <a:prstGeom prst="rect">
            <a:avLst/>
          </a:prstGeom>
          <a:solidFill>
            <a:srgbClr val="F7F9FA"/>
          </a:solidFill>
          <a:ln w="12700"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90288" y="3511296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566160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5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0" y="3511296"/>
            <a:ext cx="845819" cy="845819"/>
          </a:xfrm>
          <a:prstGeom prst="rect">
            <a:avLst/>
          </a:prstGeom>
          <a:solidFill>
            <a:srgbClr val="F7F9FA"/>
          </a:solidFill>
          <a:ln w="12700"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" y="4407408"/>
            <a:ext cx="845819" cy="845819"/>
          </a:xfrm>
          <a:prstGeom prst="rect">
            <a:avLst/>
          </a:prstGeom>
          <a:solidFill>
            <a:srgbClr val="F6D488"/>
          </a:solidFill>
          <a:ln w="12700">
            <a:solidFill>
              <a:srgbClr val="F6D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" y="4462272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基地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01952" y="4407408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38528" y="4462272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1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98064" y="4407408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4462272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2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94176" y="4407408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4462272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3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90288" y="4407408"/>
            <a:ext cx="845819" cy="845819"/>
          </a:xfrm>
          <a:prstGeom prst="rect">
            <a:avLst/>
          </a:prstGeom>
          <a:solidFill>
            <a:srgbClr val="DCEFEA"/>
          </a:solidFill>
          <a:ln w="12700">
            <a:solidFill>
              <a:srgbClr val="82B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6864" y="4462272"/>
            <a:ext cx="768096" cy="7406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8"/>
                </a:solidFill>
                <a:latin typeface="PingFang SC"/>
                <a:ea typeface="PingFang SC"/>
              </a:rPr>
              <a:t>4</a:t>
            </a:r>
            <a:endParaRPr sz="1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0" y="4407408"/>
            <a:ext cx="845819" cy="845819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22976" y="4443984"/>
            <a:ext cx="768096" cy="7589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6931152" y="1709928"/>
            <a:ext cx="0" cy="4270248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42631" y="1901952"/>
            <a:ext cx="1874519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4C72"/>
                </a:solidFill>
                <a:latin typeface="PingFang SC"/>
                <a:ea typeface="PingFang SC"/>
              </a:rPr>
              <a:t>基地</a:t>
            </a:r>
            <a:endParaRPr sz="2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42631" y="2395728"/>
            <a:ext cx="3749039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538"/>
                </a:solidFill>
                <a:latin typeface="PingFang SC"/>
                <a:ea typeface="PingFang SC"/>
              </a:rPr>
              <a:t>还没有任何样点数据</a:t>
            </a:r>
            <a:endParaRPr sz="24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7360920" y="3218688"/>
            <a:ext cx="3685032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42631" y="3566160"/>
            <a:ext cx="333756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1—10号样点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42631" y="4050791"/>
            <a:ext cx="3886200" cy="9601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去下一站 → 扫描当前样点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324344" y="5230368"/>
            <a:ext cx="3941063" cy="694944"/>
          </a:xfrm>
          <a:prstGeom prst="rect">
            <a:avLst/>
          </a:prstGeom>
          <a:solidFill>
            <a:srgbClr val="FFFFFF"/>
          </a:solidFill>
          <a:ln w="20320">
            <a:solidFill>
              <a:srgbClr val="07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97496" y="5266944"/>
            <a:ext cx="3794759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8C82"/>
                </a:solidFill>
                <a:latin typeface="PingFang SC"/>
                <a:ea typeface="PingFang SC"/>
              </a:rPr>
              <a:t>未测 ≠ 无信号</a:t>
            </a:r>
            <a:endParaRPr sz="23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6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第3关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先取得本轮数据，再判断是否重复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保持循环体和条件不变，只切换判断位置。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4846320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4C72"/>
                </a:solidFill>
                <a:latin typeface="PingFang SC"/>
                <a:ea typeface="PingFang SC"/>
              </a:rPr>
              <a:t>先判断再执行</a:t>
            </a:r>
            <a:endParaRPr sz="25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5256" y="2432304"/>
            <a:ext cx="1837943" cy="13167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B94E4B"/>
                </a:solidFill>
                <a:latin typeface="PingFang SC"/>
                <a:ea typeface="PingFang SC"/>
              </a:rPr>
              <a:t>0</a:t>
            </a:r>
            <a:endParaRPr sz="7000" b="1">
              <a:solidFill>
                <a:srgbClr val="B94E4B"/>
              </a:solidFill>
              <a:latin typeface="PingFang SC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8840" y="2935224"/>
            <a:ext cx="969264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94E4B"/>
                </a:solidFill>
                <a:latin typeface="PingFang SC"/>
                <a:ea typeface="PingFang SC"/>
              </a:rPr>
              <a:t>轮</a:t>
            </a:r>
            <a:endParaRPr sz="2700" b="1">
              <a:solidFill>
                <a:srgbClr val="B94E4B"/>
              </a:solidFill>
              <a:latin typeface="PingFang SC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4480560" cy="10515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尚无扫描数据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无法回答“本轮发现水冰？”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664208"/>
            <a:ext cx="0" cy="4315968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01968" y="1737360"/>
            <a:ext cx="4846320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78C82"/>
                </a:solidFill>
                <a:latin typeface="PingFang SC"/>
                <a:ea typeface="PingFang SC"/>
              </a:rPr>
              <a:t>先执行后判断</a:t>
            </a:r>
            <a:endParaRPr sz="25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56832" y="2432304"/>
            <a:ext cx="1554480" cy="13167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078C82"/>
                </a:solidFill>
                <a:latin typeface="PingFang SC"/>
                <a:ea typeface="PingFang SC"/>
              </a:rPr>
              <a:t>8</a:t>
            </a:r>
            <a:endParaRPr sz="70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63840" y="2935224"/>
            <a:ext cx="969264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8C82"/>
                </a:solidFill>
                <a:latin typeface="PingFang SC"/>
                <a:ea typeface="PingFang SC"/>
              </a:rPr>
              <a:t>轮</a:t>
            </a:r>
            <a:endParaRPr sz="27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3840480"/>
            <a:ext cx="4572000" cy="10515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第8站发现水冰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停在第8站，不前往第9站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60120" y="5541264"/>
            <a:ext cx="1024128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5669280"/>
            <a:ext cx="10259568" cy="4023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47587"/>
                </a:solidFill>
                <a:latin typeface="PingFang SC"/>
                <a:ea typeface="PingFang SC"/>
              </a:rPr>
              <a:t>相同：去下一站 → 扫描     不同：判断放在循环体之前或之后</a:t>
            </a:r>
            <a:endParaRPr sz="1900" b="1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第4关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起点条件已成立：先判断会走0轮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网页的“回到出发点？”检查当前是否位于起点。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2688" y="1664208"/>
            <a:ext cx="1175004" cy="1175004"/>
          </a:xfrm>
          <a:prstGeom prst="rect">
            <a:avLst/>
          </a:prstGeom>
          <a:solidFill>
            <a:srgbClr val="244C72"/>
          </a:solidFill>
          <a:ln w="1270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19072"/>
            <a:ext cx="1097280" cy="10698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起点</a:t>
            </a:r>
            <a:endParaRPr sz="13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57984" y="1664208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64208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2889504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7984" y="2889504"/>
            <a:ext cx="1175004" cy="1175004"/>
          </a:xfrm>
          <a:prstGeom prst="rect">
            <a:avLst/>
          </a:prstGeom>
          <a:solidFill>
            <a:srgbClr val="E8EAED"/>
          </a:solidFill>
          <a:ln w="12700">
            <a:solidFill>
              <a:srgbClr val="AA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1097280" cy="10881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9F"/>
                </a:solidFill>
                <a:latin typeface="PingFang SC"/>
                <a:ea typeface="PingFang SC"/>
              </a:rPr>
              <a:t>坑</a:t>
            </a:r>
            <a:endParaRPr sz="1100" b="0">
              <a:solidFill>
                <a:srgbClr val="88959F"/>
              </a:solidFill>
              <a:latin typeface="PingFang SC"/>
              <a:ea typeface="PingFang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83280" y="2889504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" y="4114800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57984" y="4114800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4114800"/>
            <a:ext cx="1175004" cy="1175004"/>
          </a:xfrm>
          <a:prstGeom prst="rect">
            <a:avLst/>
          </a:prstGeom>
          <a:solidFill>
            <a:srgbClr val="DCEFEA"/>
          </a:solidFill>
          <a:ln w="12700">
            <a:solidFill>
              <a:srgbClr val="8AB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520190" y="2251710"/>
            <a:ext cx="1225296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5486" y="2251710"/>
            <a:ext cx="1225296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70782" y="2251710"/>
            <a:ext cx="0" cy="1225296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70782" y="3477006"/>
            <a:ext cx="0" cy="1225296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745486" y="4702302"/>
            <a:ext cx="1225296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20190" y="4702302"/>
            <a:ext cx="1225296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520190" y="3477006"/>
            <a:ext cx="0" cy="1225296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520190" y="2251710"/>
            <a:ext cx="0" cy="1225296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38344" y="1709928"/>
            <a:ext cx="0" cy="4233672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40680" y="1828800"/>
            <a:ext cx="2871216" cy="4023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47587"/>
                </a:solidFill>
                <a:latin typeface="PingFang SC"/>
                <a:ea typeface="PingFang SC"/>
              </a:rPr>
              <a:t>同一循环体</a:t>
            </a:r>
            <a:endParaRPr sz="1900" b="1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40680" y="2350008"/>
            <a:ext cx="5779008" cy="78638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3832" y="2386584"/>
            <a:ext cx="5632704" cy="7132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前进1格 → 前进1格 → 右转90°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58968" y="3529584"/>
            <a:ext cx="2121408" cy="42062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4C72"/>
                </a:solidFill>
                <a:latin typeface="PingFang SC"/>
                <a:ea typeface="PingFang SC"/>
              </a:rPr>
              <a:t>先判断</a:t>
            </a:r>
            <a:endParaRPr sz="2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62088" y="3319272"/>
            <a:ext cx="2322576" cy="87782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B94E4B"/>
                </a:solidFill>
                <a:latin typeface="PingFang SC"/>
                <a:ea typeface="PingFang SC"/>
              </a:rPr>
              <a:t>0轮</a:t>
            </a:r>
            <a:endParaRPr sz="4200" b="1">
              <a:solidFill>
                <a:srgbClr val="B94E4B"/>
              </a:solidFill>
              <a:latin typeface="PingFang SC"/>
              <a:ea typeface="PingFang SC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68112" y="4352544"/>
            <a:ext cx="5705856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58968" y="4663440"/>
            <a:ext cx="2752344" cy="42062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先执行后判断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95360" y="4453128"/>
            <a:ext cx="2377440" cy="87782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78C82"/>
                </a:solidFill>
                <a:latin typeface="PingFang SC"/>
                <a:ea typeface="PingFang SC"/>
              </a:rPr>
              <a:t>4轮</a:t>
            </a:r>
            <a:endParaRPr sz="4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8" grpId="0"/>
      <p:bldP spid="9" grpId="0"/>
      <p:bldP spid="19" grpId="0"/>
      <p:bldP spid="10" grpId="0"/>
      <p:bldP spid="20" grpId="0"/>
      <p:bldP spid="14" grpId="0"/>
      <p:bldP spid="21" grpId="0"/>
      <p:bldP spid="17" grpId="0"/>
      <p:bldP spid="22" grpId="0"/>
      <p:bldP spid="16" grpId="0"/>
      <p:bldP spid="23" grpId="0"/>
      <p:bldP spid="15" grpId="0"/>
      <p:bldP spid="24" grpId="0"/>
      <p:bldP spid="11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04 新知详解 · 归纳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第一次先经过哪里，决定是否会做第一轮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2688" y="1709928"/>
            <a:ext cx="4754880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44C72"/>
                </a:solidFill>
                <a:latin typeface="PingFang SC"/>
                <a:ea typeface="PingFang SC"/>
              </a:rPr>
              <a:t>先判断，再执行</a:t>
            </a:r>
            <a:endParaRPr sz="27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1463040" y="2414016"/>
            <a:ext cx="2148840" cy="1197864"/>
          </a:xfrm>
          <a:prstGeom prst="diamond">
            <a:avLst/>
          </a:prstGeom>
          <a:solidFill>
            <a:srgbClr val="EAF2F9"/>
          </a:solidFill>
          <a:ln w="2159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779776"/>
            <a:ext cx="978408" cy="4297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8"/>
                </a:solidFill>
                <a:latin typeface="PingFang SC"/>
                <a:ea typeface="PingFang SC"/>
              </a:rPr>
              <a:t>判断</a:t>
            </a:r>
            <a:endParaRPr sz="22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611880" y="2999232"/>
            <a:ext cx="685800" cy="0"/>
          </a:xfrm>
          <a:prstGeom prst="line">
            <a:avLst/>
          </a:prstGeom>
          <a:ln w="25400">
            <a:solidFill>
              <a:srgbClr val="244C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52544" y="2633472"/>
            <a:ext cx="1481328" cy="713232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2670048"/>
            <a:ext cx="1335024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8"/>
                </a:solidFill>
                <a:latin typeface="PingFang SC"/>
                <a:ea typeface="PingFang SC"/>
              </a:rPr>
              <a:t>循环体</a:t>
            </a:r>
            <a:endParaRPr sz="22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5608" y="4809744"/>
            <a:ext cx="3986784" cy="8321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4C72"/>
                </a:solidFill>
                <a:latin typeface="PingFang SC"/>
                <a:ea typeface="PingFang SC"/>
              </a:rPr>
              <a:t>可能0轮</a:t>
            </a:r>
            <a:endParaRPr sz="34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1691640"/>
            <a:ext cx="0" cy="4270248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37960" y="1709928"/>
            <a:ext cx="4754880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8C82"/>
                </a:solidFill>
                <a:latin typeface="PingFang SC"/>
                <a:ea typeface="PingFang SC"/>
              </a:rPr>
              <a:t>先执行，后判断</a:t>
            </a:r>
            <a:endParaRPr sz="27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20840" y="2633472"/>
            <a:ext cx="1481328" cy="713232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670048"/>
            <a:ext cx="1335024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8"/>
                </a:solidFill>
                <a:latin typeface="PingFang SC"/>
                <a:ea typeface="PingFang SC"/>
              </a:rPr>
              <a:t>循环体</a:t>
            </a:r>
            <a:endParaRPr sz="22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202168" y="2999232"/>
            <a:ext cx="694944" cy="0"/>
          </a:xfrm>
          <a:prstGeom prst="line">
            <a:avLst/>
          </a:prstGeom>
          <a:ln w="2540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8942832" y="2414016"/>
            <a:ext cx="2148840" cy="1197864"/>
          </a:xfrm>
          <a:prstGeom prst="diamond">
            <a:avLst/>
          </a:prstGeom>
          <a:solidFill>
            <a:srgbClr val="DCEFEA"/>
          </a:solidFill>
          <a:ln w="21590">
            <a:solidFill>
              <a:srgbClr val="07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2779776"/>
            <a:ext cx="978408" cy="4297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538"/>
                </a:solidFill>
                <a:latin typeface="PingFang SC"/>
                <a:ea typeface="PingFang SC"/>
              </a:rPr>
              <a:t>判断</a:t>
            </a:r>
            <a:endParaRPr sz="22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84848" y="4809744"/>
            <a:ext cx="4325112" cy="8321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78C82"/>
                </a:solidFill>
                <a:latin typeface="PingFang SC"/>
                <a:ea typeface="PingFang SC"/>
              </a:rPr>
              <a:t>至少1轮</a:t>
            </a:r>
            <a:endParaRPr sz="34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2" y="5788152"/>
            <a:ext cx="1074420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587"/>
                </a:solidFill>
                <a:latin typeface="PingFang SC"/>
                <a:ea typeface="PingFang SC"/>
              </a:rPr>
              <a:t>按任务要求和已知信息选择，不凭菱形画在页面上方还是下方</a:t>
            </a:r>
            <a:endParaRPr sz="18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05 综合评价 · 独立作答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三道题，检验能否迁移到新任务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291072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587"/>
                </a:solidFill>
                <a:latin typeface="PingFang SC"/>
                <a:ea typeface="PingFang SC"/>
              </a:rPr>
              <a:t>先独立完成，再用理由解释；每题2分。</a:t>
            </a:r>
            <a:endParaRPr sz="12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1673352"/>
            <a:ext cx="96012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78C82"/>
                </a:solidFill>
                <a:latin typeface="PingFang SC"/>
                <a:ea typeface="PingFang SC"/>
              </a:rPr>
              <a:t>01</a:t>
            </a:r>
            <a:endParaRPr sz="35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764792" y="2423160"/>
            <a:ext cx="9619488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8096" y="3191256"/>
            <a:ext cx="96012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78C82"/>
                </a:solidFill>
                <a:latin typeface="PingFang SC"/>
                <a:ea typeface="PingFang SC"/>
              </a:rPr>
              <a:t>02</a:t>
            </a:r>
            <a:endParaRPr sz="35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764792" y="3941064"/>
            <a:ext cx="9619488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" y="4700016"/>
            <a:ext cx="96012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78C82"/>
                </a:solidFill>
                <a:latin typeface="PingFang SC"/>
                <a:ea typeface="PingFang SC"/>
              </a:rPr>
              <a:t>03</a:t>
            </a:r>
            <a:endParaRPr sz="35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764792" y="5449824"/>
            <a:ext cx="9619488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74519" y="1618488"/>
            <a:ext cx="9326880" cy="8595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机械臂：取样 → 放入盒；“盒中已有3个样本？”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圈出循环体，写出循环判断条件。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4519" y="3127248"/>
            <a:ext cx="9326880" cy="8595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开始时已在充电站，先判断“到站了吗？”再前进。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循环体执行几轮？为什么？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4645152"/>
            <a:ext cx="9326880" cy="8595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还没有照片，需拍到一张清晰照片。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538"/>
                </a:solidFill>
                <a:latin typeface="PingFang SC"/>
                <a:ea typeface="PingFang SC"/>
              </a:rPr>
              <a:t>先拍还是先判断？第一张就清晰，共拍几张？</a:t>
            </a:r>
            <a:endParaRPr sz="2200" b="0">
              <a:solidFill>
                <a:srgbClr val="142538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9" grpId="0"/>
      <p:bldP spid="10" grpId="0"/>
      <p:bldP spid="14" grpId="0"/>
      <p:bldP spid="11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05 综合评价 · 讲评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用证据评价一份巡视算法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8096" y="1664208"/>
            <a:ext cx="4526280" cy="4297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4C72"/>
                </a:solidFill>
                <a:latin typeface="PingFang SC"/>
                <a:ea typeface="PingFang SC"/>
              </a:rPr>
              <a:t>练习参考</a:t>
            </a:r>
            <a:endParaRPr sz="23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2185416"/>
            <a:ext cx="6583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01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2184" y="2185416"/>
            <a:ext cx="3282696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取样＋放入盒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0016" y="2185416"/>
            <a:ext cx="20299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587"/>
                </a:solidFill>
                <a:latin typeface="PingFang SC"/>
                <a:ea typeface="PingFang SC"/>
              </a:rPr>
              <a:t>已有3个样本？</a:t>
            </a:r>
            <a:endParaRPr sz="20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86384" y="2788920"/>
            <a:ext cx="5888736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" y="3136392"/>
            <a:ext cx="6583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02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72184" y="3136392"/>
            <a:ext cx="3282696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先判断再执行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0016" y="3136392"/>
            <a:ext cx="20299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587"/>
                </a:solidFill>
                <a:latin typeface="PingFang SC"/>
                <a:ea typeface="PingFang SC"/>
              </a:rPr>
              <a:t>0轮</a:t>
            </a:r>
            <a:endParaRPr sz="20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86384" y="3739896"/>
            <a:ext cx="5888736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4087368"/>
            <a:ext cx="6583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8C82"/>
                </a:solidFill>
                <a:latin typeface="PingFang SC"/>
                <a:ea typeface="PingFang SC"/>
              </a:rPr>
              <a:t>03</a:t>
            </a:r>
            <a:endParaRPr sz="22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72184" y="4087368"/>
            <a:ext cx="3282696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先拍后判断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0016" y="4087368"/>
            <a:ext cx="2029968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587"/>
                </a:solidFill>
                <a:latin typeface="PingFang SC"/>
                <a:ea typeface="PingFang SC"/>
              </a:rPr>
              <a:t>拍1张</a:t>
            </a:r>
            <a:endParaRPr sz="20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86384" y="4690872"/>
            <a:ext cx="5888736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50024" y="1719072"/>
            <a:ext cx="0" cy="4242816"/>
          </a:xfrm>
          <a:prstGeom prst="line">
            <a:avLst/>
          </a:prstGeom>
          <a:ln w="1651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70064" y="1746504"/>
            <a:ext cx="3291840" cy="8595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244C72"/>
                </a:solidFill>
                <a:latin typeface="PingFang SC"/>
                <a:ea typeface="PingFang SC"/>
              </a:rPr>
              <a:t>10分</a:t>
            </a:r>
            <a:endParaRPr sz="52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15783" y="2834640"/>
            <a:ext cx="3547872" cy="4937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538"/>
                </a:solidFill>
                <a:latin typeface="PingFang SC"/>
                <a:ea typeface="PingFang SC"/>
              </a:rPr>
              <a:t>知识检测  6分</a:t>
            </a:r>
            <a:endParaRPr sz="24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15783" y="3374136"/>
            <a:ext cx="3986784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587"/>
                </a:solidFill>
                <a:latin typeface="PingFang SC"/>
                <a:ea typeface="PingFang SC"/>
              </a:rPr>
              <a:t>组成辨认  ·  顺序判断</a:t>
            </a:r>
            <a:endParaRPr sz="18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3913632"/>
            <a:ext cx="3785616" cy="0"/>
          </a:xfrm>
          <a:prstGeom prst="line">
            <a:avLst/>
          </a:prstGeom>
          <a:ln w="1397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15783" y="4206240"/>
            <a:ext cx="3547872" cy="4937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538"/>
                </a:solidFill>
                <a:latin typeface="PingFang SC"/>
                <a:ea typeface="PingFang SC"/>
              </a:rPr>
              <a:t>过程表现  4分</a:t>
            </a:r>
            <a:endParaRPr sz="24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15783" y="4764024"/>
            <a:ext cx="3986784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587"/>
                </a:solidFill>
                <a:latin typeface="PingFang SC"/>
                <a:ea typeface="PingFang SC"/>
              </a:rPr>
              <a:t>预测 · 调试 · 合作 · 如实记录</a:t>
            </a:r>
            <a:endParaRPr sz="18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06 生活拓展 · 人工智能与生活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扫地机器人不断感知、决策、行动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792223" y="1920240"/>
            <a:ext cx="585216" cy="585216"/>
          </a:xfrm>
          <a:prstGeom prst="ellipse">
            <a:avLst/>
          </a:prstGeom>
          <a:solidFill>
            <a:srgbClr val="07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10511" y="1938528"/>
            <a:ext cx="548640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 sz="17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6967" y="2706624"/>
            <a:ext cx="2395728" cy="78638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743200"/>
            <a:ext cx="2249424" cy="7132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扫描环境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724144" y="1920240"/>
            <a:ext cx="585216" cy="585216"/>
          </a:xfrm>
          <a:prstGeom prst="ellipse">
            <a:avLst/>
          </a:prstGeom>
          <a:solidFill>
            <a:srgbClr val="07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1" y="1938528"/>
            <a:ext cx="548640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 sz="17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18888" y="2706624"/>
            <a:ext cx="2395728" cy="78638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743200"/>
            <a:ext cx="2249424" cy="7132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规划路线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46919" y="1920240"/>
            <a:ext cx="585216" cy="585216"/>
          </a:xfrm>
          <a:prstGeom prst="ellipse">
            <a:avLst/>
          </a:prstGeom>
          <a:solidFill>
            <a:srgbClr val="07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7" y="1938528"/>
            <a:ext cx="548640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 sz="1700" b="1">
              <a:solidFill>
                <a:srgbClr val="FFFFFF"/>
              </a:solidFill>
              <a:latin typeface="PingFang SC"/>
              <a:ea typeface="PingFang S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41663" y="2706624"/>
            <a:ext cx="2395728" cy="786384"/>
          </a:xfrm>
          <a:prstGeom prst="rect">
            <a:avLst/>
          </a:prstGeom>
          <a:solidFill>
            <a:srgbClr val="EAF2F9"/>
          </a:solidFill>
          <a:ln w="20320">
            <a:solidFill>
              <a:srgbClr val="244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5" y="2743200"/>
            <a:ext cx="2249424" cy="7132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移动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310128" y="2926080"/>
            <a:ext cx="1490472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51192" y="2926080"/>
            <a:ext cx="1472184" cy="0"/>
          </a:xfrm>
          <a:prstGeom prst="line">
            <a:avLst/>
          </a:prstGeom>
          <a:ln w="3556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21240" y="3474720"/>
            <a:ext cx="0" cy="1216152"/>
          </a:xfrm>
          <a:prstGeom prst="line">
            <a:avLst/>
          </a:prstGeom>
          <a:ln w="34290">
            <a:solidFill>
              <a:srgbClr val="07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075688" y="4690872"/>
            <a:ext cx="7845552" cy="0"/>
          </a:xfrm>
          <a:prstGeom prst="line">
            <a:avLst/>
          </a:prstGeom>
          <a:ln w="34290">
            <a:solidFill>
              <a:srgbClr val="078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075688" y="3401568"/>
            <a:ext cx="0" cy="1289304"/>
          </a:xfrm>
          <a:prstGeom prst="line">
            <a:avLst/>
          </a:prstGeom>
          <a:ln w="3429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67128" y="5038344"/>
            <a:ext cx="8165592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538"/>
                </a:solidFill>
                <a:latin typeface="PingFang SC"/>
                <a:ea typeface="PingFang SC"/>
              </a:rPr>
              <a:t>遇到新障碍，就再次观察并调整路线</a:t>
            </a:r>
            <a:endParaRPr sz="23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57984" y="5678424"/>
            <a:ext cx="8183879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587"/>
                </a:solidFill>
                <a:latin typeface="PingFang SC"/>
                <a:ea typeface="PingFang SC"/>
              </a:rPr>
              <a:t>循环判断条件示例：清扫完成？</a:t>
            </a:r>
            <a:endParaRPr sz="19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8" grpId="0"/>
      <p:bldP spid="10" grpId="0"/>
      <p:bldP spid="11" grpId="0"/>
      <p:bldP spid="12" grpId="0"/>
      <p:bldP spid="13" grpId="0"/>
      <p:bldP spid="19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46888"/>
            <a:ext cx="365760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78C82"/>
                </a:solidFill>
                <a:latin typeface="PingFang SC"/>
                <a:ea typeface="PingFang SC"/>
              </a:rPr>
              <a:t>06 生活拓展 · 人工智能与生活</a:t>
            </a:r>
            <a:endParaRPr sz="11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603504"/>
            <a:ext cx="10972800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2538"/>
                </a:solidFill>
                <a:latin typeface="PingFang SC"/>
                <a:ea typeface="PingFang SC"/>
              </a:rPr>
              <a:t>有反馈的重复，才可能越做越好</a:t>
            </a:r>
            <a:endParaRPr sz="3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72" y="1344168"/>
            <a:ext cx="11018520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975104"/>
            <a:ext cx="2304288" cy="9875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44C72"/>
                </a:solidFill>
                <a:latin typeface="PingFang SC"/>
                <a:ea typeface="PingFang SC"/>
              </a:rPr>
              <a:t>试</a:t>
            </a:r>
            <a:endParaRPr sz="53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304288" cy="5394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尝试识别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172968" y="2606040"/>
            <a:ext cx="466343" cy="0"/>
          </a:xfrm>
          <a:prstGeom prst="line">
            <a:avLst/>
          </a:prstGeom>
          <a:ln w="2794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39311" y="1975104"/>
            <a:ext cx="2304288" cy="9875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44C72"/>
                </a:solidFill>
                <a:latin typeface="PingFang SC"/>
                <a:ea typeface="PingFang SC"/>
              </a:rPr>
              <a:t>比</a:t>
            </a:r>
            <a:endParaRPr sz="53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11" y="3154680"/>
            <a:ext cx="2304288" cy="5394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对照答案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606040"/>
            <a:ext cx="466344" cy="0"/>
          </a:xfrm>
          <a:prstGeom prst="line">
            <a:avLst/>
          </a:prstGeom>
          <a:ln w="2794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9944" y="1975104"/>
            <a:ext cx="2304288" cy="9875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44C72"/>
                </a:solidFill>
                <a:latin typeface="PingFang SC"/>
                <a:ea typeface="PingFang SC"/>
              </a:rPr>
              <a:t>改</a:t>
            </a:r>
            <a:endParaRPr sz="5300" b="1">
              <a:solidFill>
                <a:srgbClr val="244C72"/>
              </a:solidFill>
              <a:latin typeface="PingFang SC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9944" y="3154680"/>
            <a:ext cx="2304288" cy="5394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根据差异调整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714232" y="2606040"/>
            <a:ext cx="466344" cy="0"/>
          </a:xfrm>
          <a:prstGeom prst="line">
            <a:avLst/>
          </a:prstGeom>
          <a:ln w="27940">
            <a:solidFill>
              <a:srgbClr val="078C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80576" y="1975104"/>
            <a:ext cx="2304288" cy="9875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078C82"/>
                </a:solidFill>
                <a:latin typeface="PingFang SC"/>
                <a:ea typeface="PingFang SC"/>
              </a:rPr>
              <a:t>再试</a:t>
            </a:r>
            <a:endParaRPr sz="5300" b="1">
              <a:solidFill>
                <a:srgbClr val="078C82"/>
              </a:solidFill>
              <a:latin typeface="PingFang SC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80576" y="3154680"/>
            <a:ext cx="2304288" cy="5394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538"/>
                </a:solidFill>
                <a:latin typeface="PingFang SC"/>
                <a:ea typeface="PingFang SC"/>
              </a:rPr>
              <a:t>再次识别</a:t>
            </a:r>
            <a:endParaRPr sz="21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86968" y="4133087"/>
            <a:ext cx="10323576" cy="0"/>
          </a:xfrm>
          <a:prstGeom prst="line">
            <a:avLst/>
          </a:prstGeom>
          <a:ln w="1524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4471416"/>
            <a:ext cx="10232136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538"/>
                </a:solidFill>
                <a:latin typeface="PingFang SC"/>
                <a:ea typeface="PingFang SC"/>
              </a:rPr>
              <a:t>只是原样重复错误，不会自动进步</a:t>
            </a:r>
            <a:endParaRPr sz="2600" b="1">
              <a:solidFill>
                <a:srgbClr val="142538"/>
              </a:solidFill>
              <a:latin typeface="PingFang SC"/>
              <a:ea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" y="5367528"/>
            <a:ext cx="10232136" cy="7132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587"/>
                </a:solidFill>
                <a:latin typeface="PingFang SC"/>
                <a:ea typeface="PingFang SC"/>
              </a:rPr>
              <a:t>课外观察：一种智能设备反复做什么？何时停止？何时改变行动？</a:t>
            </a:r>
            <a:endParaRPr sz="2000" b="0">
              <a:solidFill>
                <a:srgbClr val="64758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WPS 演示</Application>
  <PresentationFormat>On-screen Show (4:3)</PresentationFormat>
  <Paragraphs>398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PingFang SC</vt:lpstr>
      <vt:lpstr>Thonburi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PingFang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施朝元</cp:lastModifiedBy>
  <cp:revision>2</cp:revision>
  <dcterms:created xsi:type="dcterms:W3CDTF">2026-09-28T00:50:21Z</dcterms:created>
  <dcterms:modified xsi:type="dcterms:W3CDTF">2026-09-28T00:50:21Z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6D1ABA271DB03C1BCDB9B96A7CD01944_42</vt:lpwstr>
  </property>
</Properties>
</file>